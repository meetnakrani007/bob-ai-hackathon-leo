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 °C</c:v>
                </c:pt>
              </c:strCache>
            </c:strRef>
          </c:tx>
          <c:spPr>
            <a:solidFill>
              <a:srgbClr val="FFC94D"/>
            </a:solidFill>
            <a:ln w="31750" cap="flat">
              <a:solidFill>
                <a:srgbClr val="FFC9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C94D"/>
              </a:solidFill>
              <a:ln w="9525" cap="flat">
                <a:solidFill>
                  <a:srgbClr val="FFC9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-12h</c:v>
                  </c:pt>
                  <c:pt idx="1">
                    <c:v>-10h</c:v>
                  </c:pt>
                  <c:pt idx="2">
                    <c:v>-8h</c:v>
                  </c:pt>
                  <c:pt idx="3">
                    <c:v>-6h</c:v>
                  </c:pt>
                  <c:pt idx="4">
                    <c:v>-4h</c:v>
                  </c:pt>
                  <c:pt idx="5">
                    <c:v>-2h</c:v>
                  </c:pt>
                  <c:pt idx="6">
                    <c:v>Now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4.6</c:v>
                </c:pt>
                <c:pt idx="2">
                  <c:v>5.2</c:v>
                </c:pt>
                <c:pt idx="3">
                  <c:v>5.9</c:v>
                </c:pt>
                <c:pt idx="4">
                  <c:v>6.6</c:v>
                </c:pt>
                <c:pt idx="5">
                  <c:v>7.2</c:v>
                </c:pt>
                <c:pt idx="6">
                  <c:v>4.2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C2D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1E42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C2D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293F"/>
        </a:solidFill>
        <a:ln>
          <a:noFill/>
        </a:ln>
        <a:effectLst/>
      </c:spPr>
    </c:plotArea>
    <c:plotVisOnly val="1"/>
    <c:dispBlanksAs val="span"/>
  </c:chart>
  <c:spPr>
    <a:solidFill>
      <a:srgbClr val="081A2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Cost Trajectory ($ Millions)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Demurrage Cost</c:v>
                </c:pt>
              </c:strCache>
            </c:strRef>
          </c:tx>
          <c:spPr>
            <a:solidFill>
              <a:srgbClr val="E2685B"/>
            </a:solidFill>
            <a:ln w="31750" cap="flat">
              <a:solidFill>
                <a:srgbClr val="E268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685B"/>
              </a:solidFill>
              <a:ln w="9525" cap="flat">
                <a:solidFill>
                  <a:srgbClr val="E268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0h</c:v>
                  </c:pt>
                  <c:pt idx="1">
                    <c:v>12h</c:v>
                  </c:pt>
                  <c:pt idx="2">
                    <c:v>24h</c:v>
                  </c:pt>
                  <c:pt idx="3">
                    <c:v>36h</c:v>
                  </c:pt>
                  <c:pt idx="4">
                    <c:v>48h</c:v>
                  </c:pt>
                  <c:pt idx="5">
                    <c:v>60h</c:v>
                  </c:pt>
                  <c:pt idx="6">
                    <c:v>72h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0.42</c:v>
                </c:pt>
                <c:pt idx="2">
                  <c:v>0.84</c:v>
                </c:pt>
                <c:pt idx="3">
                  <c:v>1.26</c:v>
                </c:pt>
                <c:pt idx="4">
                  <c:v>1.68</c:v>
                </c:pt>
                <c:pt idx="5">
                  <c:v>2.1</c:v>
                </c:pt>
                <c:pt idx="6">
                  <c:v>2.52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Saved via Reroute</c:v>
                </c:pt>
              </c:strCache>
            </c:strRef>
          </c:tx>
          <c:spPr>
            <a:solidFill>
              <a:srgbClr val="5FBF8B"/>
            </a:solidFill>
            <a:ln w="31750" cap="flat">
              <a:solidFill>
                <a:srgbClr val="5FBF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FBF8B"/>
              </a:solidFill>
              <a:ln w="9525" cap="flat">
                <a:solidFill>
                  <a:srgbClr val="5FBF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0h</c:v>
                  </c:pt>
                  <c:pt idx="1">
                    <c:v>12h</c:v>
                  </c:pt>
                  <c:pt idx="2">
                    <c:v>24h</c:v>
                  </c:pt>
                  <c:pt idx="3">
                    <c:v>36h</c:v>
                  </c:pt>
                  <c:pt idx="4">
                    <c:v>48h</c:v>
                  </c:pt>
                  <c:pt idx="5">
                    <c:v>60h</c:v>
                  </c:pt>
                  <c:pt idx="6">
                    <c:v>72h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0.11</c:v>
                </c:pt>
                <c:pt idx="2">
                  <c:v>0.22</c:v>
                </c:pt>
                <c:pt idx="3">
                  <c:v>0.33</c:v>
                </c:pt>
                <c:pt idx="4">
                  <c:v>0.44</c:v>
                </c:pt>
                <c:pt idx="5">
                  <c:v>0.55</c:v>
                </c:pt>
                <c:pt idx="6">
                  <c:v>0.66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FC2D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42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C2D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293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9FC2D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81A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0E2E4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548640"/>
            <a:ext cx="3657600" cy="3657600"/>
          </a:xfrm>
          <a:prstGeom prst="ellipse">
            <a:avLst/>
          </a:prstGeom>
          <a:solidFill>
            <a:srgbClr val="123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  ·  TRACK L2  ·  LIVE PRODUCT WALKTHROUGH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SupplyGuard AI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Supply Chain Disruption Intelligence — as it runs, screen by screen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904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🦁  Team LEO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233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 ·  Engineering  ·  Optimization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599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Nakrani   ·   23DCS064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 Vaghasiya   ·   23DIT075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3749040"/>
            <a:ext cx="6263640" cy="1691640"/>
          </a:xfrm>
          <a:prstGeom prst="roundRect">
            <a:avLst>
              <a:gd name="adj" fmla="val 5405"/>
            </a:avLst>
          </a:prstGeom>
          <a:solidFill>
            <a:srgbClr val="153450"/>
          </a:solidFill>
          <a:ln w="12700">
            <a:solidFill>
              <a:srgbClr val="1C93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3886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shows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42062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 from the running app: live Mission Control KPIs, two concurrent maritime threats being verified and resolved end-to-end, cold-chain telemetry, the AI Copilot, and the cryptographic audit trail.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Model Context Protocol · React · Node.js · FastAPI · MongoDB · IBM Bob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login, five role-based demo profiles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localhost:5173/login  —  “Autonomous Supply Chain Disruption Intelligence”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84248"/>
            <a:ext cx="457200" cy="457200"/>
          </a:xfrm>
          <a:prstGeom prst="ellipse">
            <a:avLst/>
          </a:prstGeom>
          <a:solidFill>
            <a:srgbClr val="1534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AIS Maritime Radar &amp; 18 Ports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Peninsular India digital twin tracking container ships and dedicated freight corridors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457200" cy="457200"/>
          </a:xfrm>
          <a:prstGeom prst="ellipse">
            <a:avLst/>
          </a:prstGeom>
          <a:solidFill>
            <a:srgbClr val="1534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26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Demurrage Prediction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246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cascade modeling of container dwell costs and spoilage 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904488"/>
            <a:ext cx="457200" cy="457200"/>
          </a:xfrm>
          <a:prstGeom prst="ellipse">
            <a:avLst/>
          </a:prstGeom>
          <a:solidFill>
            <a:srgbClr val="1534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886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Audit Ledger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206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tamper-evident logs for every reroute decision and regulatory sign-off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24151A"/>
          </a:solidFill>
          <a:ln w="12700">
            <a:solidFill>
              <a:srgbClr val="E268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956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Active Incident: Mumbai Port Stoppage   </a:t>
            </a:r>
            <a:pPr indent="0" marL="0">
              <a:buNone/>
            </a:pPr>
            <a:r>
              <a:rPr lang="en-US" sz="1000" b="1" dirty="0">
                <a:solidFill>
                  <a:srgbClr val="E2685B"/>
                </a:solidFill>
              </a:rPr>
              <a:t>CRITICAL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303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Vessels Queued  ·  Plan A (JNPT) Ready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1828800"/>
            <a:ext cx="5074920" cy="4251960"/>
          </a:xfrm>
          <a:prstGeom prst="roundRect">
            <a:avLst>
              <a:gd name="adj" fmla="val 2151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0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Mission Control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Demo Profiles — click to pre-fill: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2880360"/>
            <a:ext cx="1394460" cy="365760"/>
          </a:xfrm>
          <a:prstGeom prst="roundRect">
            <a:avLst>
              <a:gd name="adj" fmla="val 15000"/>
            </a:avLst>
          </a:prstGeom>
          <a:solidFill>
            <a:srgbClr val="4A5AE8"/>
          </a:solidFill>
          <a:ln w="12700">
            <a:solidFill>
              <a:srgbClr val="4A5A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2880360"/>
            <a:ext cx="1394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Manager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5028" y="2880360"/>
            <a:ext cx="571500" cy="365760"/>
          </a:xfrm>
          <a:prstGeom prst="roundRect">
            <a:avLst>
              <a:gd name="adj" fmla="val 15000"/>
            </a:avLst>
          </a:prstGeom>
          <a:solidFill>
            <a:srgbClr val="153450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5028" y="2880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906256" y="2880360"/>
            <a:ext cx="708660" cy="365760"/>
          </a:xfrm>
          <a:prstGeom prst="roundRect">
            <a:avLst>
              <a:gd name="adj" fmla="val 15000"/>
            </a:avLst>
          </a:prstGeom>
          <a:solidFill>
            <a:srgbClr val="153450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06256" y="2880360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724644" y="2880360"/>
            <a:ext cx="708660" cy="365760"/>
          </a:xfrm>
          <a:prstGeom prst="roundRect">
            <a:avLst>
              <a:gd name="adj" fmla="val 15000"/>
            </a:avLst>
          </a:prstGeom>
          <a:solidFill>
            <a:srgbClr val="153450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24644" y="2880360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543032" y="2880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53450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43032" y="2880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Email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20840" y="38404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0B1F32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0372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manager@supplyguard.io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20840" y="4526280"/>
            <a:ext cx="4617720" cy="502920"/>
          </a:xfrm>
          <a:prstGeom prst="roundRect">
            <a:avLst>
              <a:gd name="adj" fmla="val 12727"/>
            </a:avLst>
          </a:prstGeom>
          <a:solidFill>
            <a:srgbClr val="4A5AE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20840" y="45262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Mission Control  →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Access · New accounts provisioned by System Administrator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dashboard, the full blast radius of a live disruption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17099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F2A20"/>
          </a:solidFill>
          <a:ln w="9525">
            <a:solidFill>
              <a:srgbClr val="FFC9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1709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Corrob.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DISRUPTIONS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Critical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55848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7099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F2A20"/>
          </a:solidFill>
          <a:ln w="9525">
            <a:solidFill>
              <a:srgbClr val="E268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1709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17099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CARGO EXPOSED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$2,750,000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163056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51776" y="17099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F2A20"/>
          </a:solidFill>
          <a:ln w="9525">
            <a:solidFill>
              <a:srgbClr val="5FBF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51776" y="1709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FB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Stabilized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17099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BUFFER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48+ Hrs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970264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8984" y="17099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F2A20"/>
          </a:solidFill>
          <a:ln w="9525">
            <a:solidFill>
              <a:srgbClr val="5FBF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58984" y="1709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FB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Feasible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9153144" y="17099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VALUE SAVED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$1,250,000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11109960" cy="1874520"/>
          </a:xfrm>
          <a:prstGeom prst="roundRect">
            <a:avLst>
              <a:gd name="adj" fmla="val 4390"/>
            </a:avLst>
          </a:prstGeom>
          <a:solidFill>
            <a:srgbClr val="10293F"/>
          </a:solidFill>
          <a:ln w="12700">
            <a:solidFill>
              <a:srgbClr val="E268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364992"/>
            <a:ext cx="2095805" cy="29260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3364992"/>
            <a:ext cx="20958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ACTIVE DISRUPTION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291840" y="3364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· 94% Confidence  ·  14h ago · Port of Mumbai (INBOM)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Queued: 18 Vessels   Exposed: $2.75M USD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37490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Mumbai Port Dockworkers &amp; Crane Operators Strike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Wildcat strike over crane automation. Berths 1–10 halted with 18 container vessels delayed in outer anchorage.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617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Corroborated: Port Authority #BOM-2026-04  ·  Reuters Bulletin  ·  AIS Anomaly (14 Idle)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Cold-Chain Sensor Telemetry — Active Reefer CONT-REEFER-9042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BF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4.20°C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053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Temperature · Safe: 2–8°C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37560" y="5623560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7472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BF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48+ Hrs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3474720" y="6053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Buffer · Shore power connected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26480" y="5623560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BF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$1.25M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6263640" y="6053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Value · Critical Insulin Vaccines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915400" y="5623560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5256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BF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98%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052560" y="6053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 Genset Power · Grid connected at JNPT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 &amp; PORTS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live maritime corridors under active AI supervision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0293F"/>
          </a:solidFill>
          <a:ln w="19050">
            <a:solidFill>
              <a:srgbClr val="5FB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64792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1332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6479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B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MITIGATED &amp; CLOSED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764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Confidence  ·  Exposure $14.5M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Mumbai Port Unannounced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Dockworkers &amp; Crane Strike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26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wildcat strike called by the Mumbai Port Labor Federation over crane automation and overtime disputes. All berths 1–10 non-operational; 18 vessels queued.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2D1"/>
                </a:solidFill>
              </a:rPr>
              <a:t>Savings realized: </a:t>
            </a:r>
            <a:pPr indent="0" marL="0">
              <a:buNone/>
            </a:pPr>
            <a:r>
              <a:rPr lang="en-US" sz="1400" b="1" dirty="0">
                <a:solidFill>
                  <a:srgbClr val="5FBF8B"/>
                </a:solidFill>
              </a:rPr>
              <a:t>$1,248,550 USD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2245766" cy="292608"/>
          </a:xfrm>
          <a:prstGeom prst="roundRect">
            <a:avLst>
              <a:gd name="adj" fmla="val 50000"/>
            </a:avLst>
          </a:prstGeom>
          <a:solidFill>
            <a:srgbClr val="5FBF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114800"/>
            <a:ext cx="2245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Mitigation Active &amp; Signed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Terminal Berths (10 halted): Berth 1–10, all flagged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74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“Advisory Notice #BOM-2026-04: All container cargo offloading suspended indefinitely pending union negotiations.”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Mumbai Port Authority Emergency Bulletin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10293F"/>
          </a:solidFill>
          <a:ln w="19050">
            <a:solidFill>
              <a:srgbClr val="E268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764792"/>
            <a:ext cx="1570939" cy="29260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1764792"/>
            <a:ext cx="1570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 LEVEL 4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1764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Confidence  ·  Exposure $85M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1488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Southern Red Sea Maritime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Security Advisory (Bab-el-Mandeb)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971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Heightened security threat in Bab-el-Mandeb Strait prompting container liners to avoid the Suez Canal and reroute via Cape of Good Hope, adding 10–14 days to Europe–Asia voyages.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7947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corridors: Bab-el-Mandeb Choke-Point · Red Sea Inbound Sea-Lane · Gulf of Aden Transit · Suez Northbound · Mandeb West Shoal · Hanish Islands</a:t>
            </a:r>
            <a:endParaRPr lang="en-US" sz="87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526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candidate plans modeled — net financial savings up to $3,850,000 USD before execution.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“Commercial vessels urged to exercise extreme caution or reroute via Cape of Good Hope.”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UKMTO Maritime Trade Operations Advisory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MATRIX — CORRIDOR INBOM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Mumbai: three modeled plans, ranked by risk and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10293F"/>
          </a:solidFill>
          <a:ln w="19050">
            <a:solidFill>
              <a:srgbClr val="5FB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1196035" cy="29260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37360"/>
            <a:ext cx="11960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Recommended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96%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031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A: Nhava Sheva Diversion + Atal Setu Reefer Shuttle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COST IMPACT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+$1,450 USD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308860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TRANSIT DELTA
</a:t>
            </a:r>
            <a:pPr indent="0" marL="0">
              <a:buNone/>
            </a:pPr>
            <a:r>
              <a:rPr lang="en-US" sz="1200" b="1" dirty="0">
                <a:solidFill>
                  <a:srgbClr val="7FD7E0"/>
                </a:solidFill>
              </a:rPr>
              <a:t>+4.5 Hours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20040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POST-ACTION RISK
</a:t>
            </a:r>
            <a:pPr indent="0" marL="0">
              <a:buNone/>
            </a:pPr>
            <a:r>
              <a:rPr lang="en-US" sz="1300" b="1" dirty="0">
                <a:solidFill>
                  <a:srgbClr val="5FBF8B"/>
                </a:solidFill>
              </a:rPr>
              <a:t>18 / 100</a:t>
            </a:r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</a:rPr>
              <a:t>  (Low Risk)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703320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Dedicated reefer truck 8km from JNPT hub</a:t>
            </a:r>
            <a:endParaRPr lang="en-US" sz="87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4087368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 berth clearance at Terminal 2</a:t>
            </a:r>
            <a:endParaRPr lang="en-US" sz="87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47141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Beats 36h insulin threshold with 31h to spare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297680" y="160020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2272" y="1737360"/>
            <a:ext cx="1495958" cy="292608"/>
          </a:xfrm>
          <a:prstGeom prst="roundRect">
            <a:avLst>
              <a:gd name="adj" fmla="val 50000"/>
            </a:avLst>
          </a:prstGeom>
          <a:solidFill>
            <a:srgbClr val="1C93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62272" y="1737360"/>
            <a:ext cx="14959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Viable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84%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21031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B: Mundra Deepwater Reroute + Western DFC Rail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462272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COST IMPACT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+$2,850 USD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057900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TRANSIT DELTA
</a:t>
            </a:r>
            <a:pPr indent="0" marL="0">
              <a:buNone/>
            </a:pPr>
            <a:r>
              <a:rPr lang="en-US" sz="1200" b="1" dirty="0">
                <a:solidFill>
                  <a:srgbClr val="7FD7E0"/>
                </a:solidFill>
              </a:rPr>
              <a:t>+26.0 Hours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462272" y="320040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POST-ACTION RISK
</a:t>
            </a:r>
            <a:pPr indent="0" marL="0">
              <a:buNone/>
            </a:pPr>
            <a:r>
              <a:rPr lang="en-US" sz="1300" b="1" dirty="0">
                <a:solidFill>
                  <a:srgbClr val="FFC94D"/>
                </a:solidFill>
              </a:rPr>
              <a:t>34 / 100</a:t>
            </a:r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</a:rPr>
              <a:t>  (Medium Risk)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462272" y="3703320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labor union disputes in Gujarat zone</a:t>
            </a:r>
            <a:endParaRPr lang="en-US" sz="870" dirty="0"/>
          </a:p>
        </p:txBody>
      </p:sp>
      <p:sp>
        <p:nvSpPr>
          <p:cNvPr id="24" name="Text 22"/>
          <p:cNvSpPr txBox="1"/>
          <p:nvPr/>
        </p:nvSpPr>
        <p:spPr>
          <a:xfrm>
            <a:off x="4462272" y="4087368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 automated rail link to distribution centers</a:t>
            </a:r>
            <a:endParaRPr lang="en-US" sz="870" dirty="0"/>
          </a:p>
        </p:txBody>
      </p:sp>
      <p:sp>
        <p:nvSpPr>
          <p:cNvPr id="25" name="Text 23"/>
          <p:cNvSpPr txBox="1"/>
          <p:nvPr/>
        </p:nvSpPr>
        <p:spPr>
          <a:xfrm>
            <a:off x="4462272" y="447141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26h delay consumes 72% of cold-chain buffer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046720" y="160020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11312" y="1737360"/>
            <a:ext cx="1795882" cy="292608"/>
          </a:xfrm>
          <a:prstGeom prst="roundRect">
            <a:avLst>
              <a:gd name="adj" fmla="val 50000"/>
            </a:avLst>
          </a:prstGeom>
          <a:solidFill>
            <a:srgbClr val="E2685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11312" y="1737360"/>
            <a:ext cx="17958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/ High Risk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19556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12%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11312" y="21031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C: Hold Anchorage at Mumbai Port Outer Roads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211312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COST IMPACT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+$8,500+ USD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9806940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TRANSIT DELTA
</a:t>
            </a:r>
            <a:pPr indent="0" marL="0">
              <a:buNone/>
            </a:pPr>
            <a:r>
              <a:rPr lang="en-US" sz="1200" b="1" dirty="0">
                <a:solidFill>
                  <a:srgbClr val="7FD7E0"/>
                </a:solidFill>
              </a:rPr>
              <a:t>+72.0 Hours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320040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POST-ACTION RISK
</a:t>
            </a:r>
            <a:pPr indent="0" marL="0">
              <a:buNone/>
            </a:pPr>
            <a:r>
              <a:rPr lang="en-US" sz="1300" b="1" dirty="0">
                <a:solidFill>
                  <a:srgbClr val="E2685B"/>
                </a:solidFill>
              </a:rPr>
              <a:t>96 / 100</a:t>
            </a:r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</a:rPr>
              <a:t>  (Catastrophic Risk)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3703320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vessel course alteration required</a:t>
            </a:r>
            <a:endParaRPr lang="en-US" sz="870" dirty="0"/>
          </a:p>
        </p:txBody>
      </p:sp>
      <p:sp>
        <p:nvSpPr>
          <p:cNvPr id="35" name="Text 33"/>
          <p:cNvSpPr txBox="1"/>
          <p:nvPr/>
        </p:nvSpPr>
        <p:spPr>
          <a:xfrm>
            <a:off x="8211312" y="4087368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Total spoilage loss of $1.25M predicted</a:t>
            </a:r>
            <a:endParaRPr lang="en-US" sz="870" dirty="0"/>
          </a:p>
        </p:txBody>
      </p:sp>
      <p:sp>
        <p:nvSpPr>
          <p:cNvPr id="36" name="Text 34"/>
          <p:cNvSpPr txBox="1"/>
          <p:nvPr/>
        </p:nvSpPr>
        <p:spPr>
          <a:xfrm>
            <a:off x="8211312" y="447141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Demurrage penalty accrual of $35,000/day</a:t>
            </a:r>
            <a:endParaRPr lang="en-US" sz="87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MATRIX — CORRIDOR AEJEA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 Sea: choosing between speed, cost, and security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10293F"/>
          </a:solidFill>
          <a:ln w="19050">
            <a:solidFill>
              <a:srgbClr val="5FB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1196035" cy="292608"/>
          </a:xfrm>
          <a:prstGeom prst="roundRect">
            <a:avLst>
              <a:gd name="adj" fmla="val 50000"/>
            </a:avLst>
          </a:prstGeom>
          <a:solidFill>
            <a:srgbClr val="FFC9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37360"/>
            <a:ext cx="11960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Recommended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94%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031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A: Cape of Good Hope Oceanic Bypass &amp; Colombo Hub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COST IMPACT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Save $3.85M USD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308860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TRANSIT DELTA
</a:t>
            </a:r>
            <a:pPr indent="0" marL="0">
              <a:buNone/>
            </a:pPr>
            <a:r>
              <a:rPr lang="en-US" sz="1200" b="1" dirty="0">
                <a:solidFill>
                  <a:srgbClr val="7FD7E0"/>
                </a:solidFill>
              </a:rPr>
              <a:t>+11.0 Days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20040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POST-ACTION RISK
</a:t>
            </a:r>
            <a:pPr indent="0" marL="0">
              <a:buNone/>
            </a:pPr>
            <a:r>
              <a:rPr lang="en-US" sz="1300" b="1" dirty="0">
                <a:solidFill>
                  <a:srgbClr val="5FBF8B"/>
                </a:solidFill>
              </a:rPr>
              <a:t>16 / 100</a:t>
            </a:r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</a:rPr>
              <a:t>  (Low Risk)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703320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probability of drone/vessel seizure</a:t>
            </a:r>
            <a:endParaRPr lang="en-US" sz="87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4087368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Saves up to $3.85M in war-risk surcharges</a:t>
            </a:r>
            <a:endParaRPr lang="en-US" sz="87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47141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Secures priority transshipment at Colombo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297680" y="160020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2272" y="1737360"/>
            <a:ext cx="1795882" cy="292608"/>
          </a:xfrm>
          <a:prstGeom prst="roundRect">
            <a:avLst>
              <a:gd name="adj" fmla="val 50000"/>
            </a:avLst>
          </a:prstGeom>
          <a:solidFill>
            <a:srgbClr val="1C93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62272" y="1737360"/>
            <a:ext cx="17958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Fast-Track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82%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21031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B: Jebel Ali Sea-Air Intermodal Bridge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462272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COST IMPACT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+$1.45M USD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057900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TRANSIT DELTA
</a:t>
            </a:r>
            <a:pPr indent="0" marL="0">
              <a:buNone/>
            </a:pPr>
            <a:r>
              <a:rPr lang="en-US" sz="1200" b="1" dirty="0">
                <a:solidFill>
                  <a:srgbClr val="7FD7E0"/>
                </a:solidFill>
              </a:rPr>
              <a:t>+2.0 Days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462272" y="320040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POST-ACTION RISK
</a:t>
            </a:r>
            <a:pPr indent="0" marL="0">
              <a:buNone/>
            </a:pPr>
            <a:r>
              <a:rPr lang="en-US" sz="1300" b="1" dirty="0">
                <a:solidFill>
                  <a:srgbClr val="FFC94D"/>
                </a:solidFill>
              </a:rPr>
              <a:t>28 / 100</a:t>
            </a:r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</a:rPr>
              <a:t>  (Moderate Risk)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462272" y="3703320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Arrives at European destinations in 48h</a:t>
            </a:r>
            <a:endParaRPr lang="en-US" sz="870" dirty="0"/>
          </a:p>
        </p:txBody>
      </p:sp>
      <p:sp>
        <p:nvSpPr>
          <p:cNvPr id="24" name="Text 22"/>
          <p:cNvSpPr txBox="1"/>
          <p:nvPr/>
        </p:nvSpPr>
        <p:spPr>
          <a:xfrm>
            <a:off x="4462272" y="4087368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circumvents Red Sea and Cape route</a:t>
            </a:r>
            <a:endParaRPr lang="en-US" sz="870" dirty="0"/>
          </a:p>
        </p:txBody>
      </p:sp>
      <p:sp>
        <p:nvSpPr>
          <p:cNvPr id="25" name="Text 23"/>
          <p:cNvSpPr txBox="1"/>
          <p:nvPr/>
        </p:nvSpPr>
        <p:spPr>
          <a:xfrm>
            <a:off x="4462272" y="447141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 reliability for pharma cargo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046720" y="160020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11312" y="1737360"/>
            <a:ext cx="1795882" cy="292608"/>
          </a:xfrm>
          <a:prstGeom prst="roundRect">
            <a:avLst>
              <a:gd name="adj" fmla="val 50000"/>
            </a:avLst>
          </a:prstGeom>
          <a:solidFill>
            <a:srgbClr val="E2685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11312" y="1737360"/>
            <a:ext cx="17958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/ Status Quo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19556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29%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11312" y="21031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C: Wait for Multinational Naval Escort Convoy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211312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COST IMPACT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+$650K USD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9806940" y="265176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TRANSIT DELTA
</a:t>
            </a:r>
            <a:pPr indent="0" marL="0">
              <a:buNone/>
            </a:pPr>
            <a:r>
              <a:rPr lang="en-US" sz="1200" b="1" dirty="0">
                <a:solidFill>
                  <a:srgbClr val="7FD7E0"/>
                </a:solidFill>
              </a:rPr>
              <a:t>+6.0 Days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320040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2D1"/>
                </a:solidFill>
              </a:rPr>
              <a:t>POST-ACTION RISK
</a:t>
            </a:r>
            <a:pPr indent="0" marL="0">
              <a:buNone/>
            </a:pPr>
            <a:r>
              <a:rPr lang="en-US" sz="1300" b="1" dirty="0">
                <a:solidFill>
                  <a:srgbClr val="E2685B"/>
                </a:solidFill>
              </a:rPr>
              <a:t>78 / 100</a:t>
            </a:r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</a:rPr>
              <a:t>  (High Risk)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3703320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Maintains shortest geographic route via Suez</a:t>
            </a:r>
            <a:endParaRPr lang="en-US" sz="870" dirty="0"/>
          </a:p>
        </p:txBody>
      </p:sp>
      <p:sp>
        <p:nvSpPr>
          <p:cNvPr id="35" name="Text 33"/>
          <p:cNvSpPr txBox="1"/>
          <p:nvPr/>
        </p:nvSpPr>
        <p:spPr>
          <a:xfrm>
            <a:off x="8211312" y="4087368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45% risk of drone/projectile harassment</a:t>
            </a:r>
            <a:endParaRPr lang="en-US" sz="870" dirty="0"/>
          </a:p>
        </p:txBody>
      </p:sp>
      <p:sp>
        <p:nvSpPr>
          <p:cNvPr id="36" name="Text 34"/>
          <p:cNvSpPr txBox="1"/>
          <p:nvPr/>
        </p:nvSpPr>
        <p:spPr>
          <a:xfrm>
            <a:off x="8211312" y="447141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Convoy delays often extend 7–10 days</a:t>
            </a:r>
            <a:endParaRPr lang="en-US" sz="87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GUARD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IoT telemetry protects $1.25M of insulin, minute by minute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CONT-REEFER-9042 · High-Value Insulin &amp; Pediatric Vaccines ($1.25M USD)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Reefer Temp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677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BF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4.20°C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8.00°C · Normal thermal equilibrium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Buffer Window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2677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BF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48.0h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· Shore power connected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 Fuel Level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2677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BF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98%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aux · Full shore line support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9052560" y="18745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17152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Fleet Asset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217152" y="22677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BF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TRK-REEFER-01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217152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ThermoKing Arctic · 8km from JNPT</a:t>
            </a:r>
            <a:endParaRPr lang="en-US" sz="78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12-Hour Thermal Progression vs Safe Thresholds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657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envelope +2.0°C to +8.0°C. Above +8.0°C leads to irreversible insulin protein denaturation.</a:t>
            </a:r>
            <a:endParaRPr lang="en-US" sz="9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48640" y="4023360"/>
          <a:ext cx="11064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MARITIME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 ports, 10 vessels, one live geographic picture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interactive geography across 18 major Indian maritime hubs, transshipment routes, and 10 active ocean vessels with unique cargo profiles and one-click contingency approvals.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9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Monitored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Coast (9) · East Coast (7) · Disrupted (1) · Recommended (2)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9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Vessels Tracked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AIS with unique cargo, ETA, and critical-factor alerts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9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/ 10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 Protected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rerouting already approved and active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1109960" cy="2286000"/>
          </a:xfrm>
          <a:prstGeom prst="roundRect">
            <a:avLst>
              <a:gd name="adj" fmla="val 3600"/>
            </a:avLst>
          </a:prstGeom>
          <a:solidFill>
            <a:srgbClr val="10293F"/>
          </a:solidFill>
          <a:ln w="12700">
            <a:solidFill>
              <a:srgbClr val="E268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913632"/>
            <a:ext cx="2695651" cy="29260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913632"/>
            <a:ext cx="26956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STRIKE · 100% INOPERATIVE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315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Mumbai Port Trust  ·  INBOM  ·  Maharashtra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709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Unannounced wildcat dockworker and crane operator strike. Berths 1–10 paralyzed. Severe reefer plug deficit.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434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754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4434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Avail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4754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 Plugs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0" y="4434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 hrs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0" y="4754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Dwell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routing active: Nhava Sheva JNPT (Plan A) · Deepwater International Shipping Lanes · Western Dedicated Freight Rail Corridor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CARGO MANIFEST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 live shipments, auto-scored and auto-resolvable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099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TRACKED CARGO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$42.8M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355848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8728" y="17099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SHIPMENTS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163056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51776" y="17099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F2A20"/>
          </a:solidFill>
          <a:ln w="9525">
            <a:solidFill>
              <a:srgbClr val="E268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51776" y="1709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17099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≥70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970264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58984" y="17099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F2A20"/>
          </a:solidFill>
          <a:ln w="9525">
            <a:solidFill>
              <a:srgbClr val="5FBF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58984" y="1709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FB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9153144" y="17099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FLEET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53144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consignments (auto-flagged for one-click mitigation):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/ CARGO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10835640" cy="0"/>
          </a:xfrm>
          <a:prstGeom prst="line">
            <a:avLst/>
          </a:prstGeom>
          <a:noFill/>
          <a:ln w="6350">
            <a:solidFill>
              <a:srgbClr val="2351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8679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Consignment #21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867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INBOM → INMUN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867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$169,500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38679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96/100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052560" y="3867912"/>
            <a:ext cx="671170" cy="29260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052560" y="3867912"/>
            <a:ext cx="671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AT_RISK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4270248"/>
            <a:ext cx="10835640" cy="0"/>
          </a:xfrm>
          <a:prstGeom prst="line">
            <a:avLst/>
          </a:prstGeom>
          <a:noFill/>
          <a:ln w="6350">
            <a:solidFill>
              <a:srgbClr val="2351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Consignment #19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75488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SGSIN → INBOM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$160,500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4343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94/100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052560" y="4343400"/>
            <a:ext cx="671170" cy="29260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052560" y="4343400"/>
            <a:ext cx="671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AT_RISK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" y="4745736"/>
            <a:ext cx="10835640" cy="0"/>
          </a:xfrm>
          <a:prstGeom prst="line">
            <a:avLst/>
          </a:prstGeom>
          <a:noFill/>
          <a:ln w="6350">
            <a:solidFill>
              <a:srgbClr val="23516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4818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PERISHABLES Consignment #42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754880" y="4818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INBOM → INMUN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492240" y="4818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$754,000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955280" y="4818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93/100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052560" y="4818888"/>
            <a:ext cx="671170" cy="29260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052560" y="4818888"/>
            <a:ext cx="671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AT_RISK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" y="5221224"/>
            <a:ext cx="10835640" cy="0"/>
          </a:xfrm>
          <a:prstGeom prst="line">
            <a:avLst/>
          </a:prstGeom>
          <a:noFill/>
          <a:ln w="6350">
            <a:solidFill>
              <a:srgbClr val="23516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8640" y="52943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PHARMACEUTICALS Consignment #40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4754880" y="5294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SGSIN → INBOM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492240" y="5294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$730,000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7955280" y="52943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91/100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052560" y="5294376"/>
            <a:ext cx="671170" cy="29260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052560" y="5294376"/>
            <a:ext cx="671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AT_RISK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48640" y="5696712"/>
            <a:ext cx="10835640" cy="0"/>
          </a:xfrm>
          <a:prstGeom prst="line">
            <a:avLst/>
          </a:prstGeom>
          <a:noFill/>
          <a:ln w="6350">
            <a:solidFill>
              <a:srgbClr val="23516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57698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Alphonso Mangoes Export #04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4754880" y="57698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INBOM → AEJEA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6492240" y="57698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$185,000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7955280" y="57698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89/100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052560" y="5769864"/>
            <a:ext cx="671170" cy="292608"/>
          </a:xfrm>
          <a:prstGeom prst="roundRect">
            <a:avLst>
              <a:gd name="adj" fmla="val 50000"/>
            </a:avLst>
          </a:prstGeom>
          <a:solidFill>
            <a:srgbClr val="3A1A1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052560" y="5769864"/>
            <a:ext cx="671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AT_RISK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48640" y="6172200"/>
            <a:ext cx="10835640" cy="0"/>
          </a:xfrm>
          <a:prstGeom prst="line">
            <a:avLst/>
          </a:prstGeom>
          <a:noFill/>
          <a:ln w="6350">
            <a:solidFill>
              <a:srgbClr val="23516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8640" y="6245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PERISHABLES Consignment #47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754880" y="6245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SGSIN → INBOM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6492240" y="6245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$814,000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7955280" y="6245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B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16/100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052560" y="6245352"/>
            <a:ext cx="821131" cy="292608"/>
          </a:xfrm>
          <a:prstGeom prst="roundRect">
            <a:avLst>
              <a:gd name="adj" fmla="val 50000"/>
            </a:avLst>
          </a:prstGeom>
          <a:solidFill>
            <a:srgbClr val="13321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052560" y="6245352"/>
            <a:ext cx="8211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B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 CASCADE SIMULATOR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inaction costs, hour by hour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15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0020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16550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$2,520,000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Demurrage Loss  ·  Contract penalties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8092440" y="246888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2523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38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Vessels  ·  Stranded in roads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092440" y="333756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33924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$8,400,000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at Risk  ·  Includes cold chain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092440" y="420624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4261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Disputes  ·  Legal claims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48640" y="525780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5376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Nhava Sheva (JNPT) — 84% Load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5650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Cold-Chain Berth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35040" y="525780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0" y="5376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Mundra Port (INMUN) — 68% Load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5650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Cargo &amp; Rail Corridor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OPERATIONS COPILOT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Ask a question in plain English, get a cited operational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153450"/>
          </a:solidFill>
          <a:ln w="12700">
            <a:solidFill>
              <a:srgbClr val="1C9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Autonomous Copilot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the Model Context Protocol server with live telemetry across 18 vessels and $2.75M USD in cargo.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246888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4A5A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0" y="24688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current status of the Mumbai Port strike?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7589520" cy="1371600"/>
          </a:xfrm>
          <a:prstGeom prst="roundRect">
            <a:avLst>
              <a:gd name="adj" fmla="val 5333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685B"/>
                </a:solidFill>
              </a:rPr>
              <a:t>🔴 Disruption Verified: Mumbai Port Strike (94% confidence)
</a:t>
            </a:r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</a:rPr>
              <a:t>• Event: Unannounced wildcat strike by crane operators &amp; dockworkers.
</a:t>
            </a:r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</a:rPr>
              <a:t>• Impact: Berths 1–10 100% inoperative. 18 vessels queued in outer roads.
</a:t>
            </a:r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</a:rPr>
              <a:t>• Est. duration: 48–72 hrs. Daily demurrage: $35,000/day/vessel.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03720" y="4617720"/>
            <a:ext cx="4709160" cy="502920"/>
          </a:xfrm>
          <a:prstGeom prst="roundRect">
            <a:avLst>
              <a:gd name="adj" fmla="val 45455"/>
            </a:avLst>
          </a:prstGeom>
          <a:solidFill>
            <a:srgbClr val="4A5A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6600" y="4617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Nhava Sheva (JNPT) vs Mundra for diversion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7589520" cy="1234440"/>
          </a:xfrm>
          <a:prstGeom prst="roundRect">
            <a:avLst>
              <a:gd name="adj" fmla="val 5926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44068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D7E0"/>
                </a:solidFill>
              </a:rPr>
              <a:t>⚓ Alternative Port Diversion Ranking:
</a:t>
            </a:r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</a:rPr>
              <a:t>1. Nhava Sheva / JNPT — 96% Feasibility (Plan A): 8km away, 1,420 reefer plugs, +0.5h sailing
</a:t>
            </a:r>
            <a:pPr indent="0" marL="0">
              <a:buNone/>
            </a:pPr>
            <a:r>
              <a:rPr lang="en-US" sz="900" dirty="0">
                <a:solidFill>
                  <a:srgbClr val="9FC2D1"/>
                </a:solidFill>
              </a:rPr>
              <a:t>2. Adani Mundra — 84% Feasibility (Plan B): 418 NM, +26h transit, deep-draft hub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by 10 MCP tools: verify_disruption · find_affected_shipments · calculate_shipment_risk · find_alternative_ports · analyze_cold_chain · simulate_network_impact · compare_scenarios · generate_action_plan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AUDIT TRAIL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reroute is signed, hashed, and permanently attributable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Audit Trail &amp; Governance Log — 21 CFR Part 11 &amp; Corporate Supply Chain Compliance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920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1109960" cy="0"/>
          </a:xfrm>
          <a:prstGeom prst="line">
            <a:avLst/>
          </a:prstGeom>
          <a:noFill/>
          <a:ln w="6350">
            <a:solidFill>
              <a:srgbClr val="2351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591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4:20:41 PM</a:t>
            </a:r>
            <a:endParaRPr lang="en-US" sz="83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3591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REROUTE_AUTHORIZED</a:t>
            </a:r>
            <a:endParaRPr lang="en-US" sz="83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3591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Nair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SHP-PHARMA-1001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3591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diversion to Nhava Sheva (JNPT) and refrigerated truck dispatch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1109960" cy="0"/>
          </a:xfrm>
          <a:prstGeom prst="line">
            <a:avLst/>
          </a:prstGeom>
          <a:noFill/>
          <a:ln w="6350">
            <a:solidFill>
              <a:srgbClr val="2351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999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4:20:18 PM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2999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REROUTE_AUTHORIZED</a:t>
            </a:r>
            <a:endParaRPr lang="en-US" sz="83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29992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Nair</a:t>
            </a:r>
            <a:endParaRPr lang="en-US" sz="83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999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SHP-PHARMA-1001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9992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diversion to Nhava Sheva (JNPT) and refrigerated truck dispatch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11109960" cy="0"/>
          </a:xfrm>
          <a:prstGeom prst="line">
            <a:avLst/>
          </a:prstGeom>
          <a:noFill/>
          <a:ln w="6350">
            <a:solidFill>
              <a:srgbClr val="2351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6393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3:56:11 PM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36393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REROUTE_AUTHORIZED</a:t>
            </a:r>
            <a:endParaRPr lang="en-US" sz="83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36393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Nair</a:t>
            </a:r>
            <a:endParaRPr lang="en-US" sz="83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639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SHP-PHARMA-1001</a:t>
            </a:r>
            <a:endParaRPr lang="en-US" sz="83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36393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diversion to Nhava Sheva (JNPT) and refrigerated truck dispatch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11109960" cy="0"/>
          </a:xfrm>
          <a:prstGeom prst="line">
            <a:avLst/>
          </a:prstGeom>
          <a:noFill/>
          <a:ln w="6350">
            <a:solidFill>
              <a:srgbClr val="2351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2793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7:56:10 AM</a:t>
            </a:r>
            <a:endParaRPr lang="en-US" sz="830" dirty="0"/>
          </a:p>
        </p:txBody>
      </p:sp>
      <p:sp>
        <p:nvSpPr>
          <p:cNvPr id="30" name="Text 28"/>
          <p:cNvSpPr txBox="1"/>
          <p:nvPr/>
        </p:nvSpPr>
        <p:spPr>
          <a:xfrm>
            <a:off x="1737360" y="4279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REROUTE_AUTHORIZED</a:t>
            </a:r>
            <a:endParaRPr lang="en-US" sz="83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42793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Nair</a:t>
            </a:r>
            <a:endParaRPr lang="en-US" sz="83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4279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SHP-PHARMA-1001</a:t>
            </a:r>
            <a:endParaRPr lang="en-US" sz="83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42793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(0.94) exceeded automatic verification threshold (0.80)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48640" y="4846320"/>
            <a:ext cx="11109960" cy="0"/>
          </a:xfrm>
          <a:prstGeom prst="line">
            <a:avLst/>
          </a:prstGeom>
          <a:noFill/>
          <a:ln w="6350">
            <a:solidFill>
              <a:srgbClr val="2351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9194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3:56:10 AM</a:t>
            </a:r>
            <a:endParaRPr lang="en-US" sz="830" dirty="0"/>
          </a:p>
        </p:txBody>
      </p:sp>
      <p:sp>
        <p:nvSpPr>
          <p:cNvPr id="36" name="Text 34"/>
          <p:cNvSpPr txBox="1"/>
          <p:nvPr/>
        </p:nvSpPr>
        <p:spPr>
          <a:xfrm>
            <a:off x="1737360" y="4919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REROUTE_AUTHORIZED</a:t>
            </a:r>
            <a:endParaRPr lang="en-US" sz="830" dirty="0"/>
          </a:p>
        </p:txBody>
      </p:sp>
      <p:sp>
        <p:nvSpPr>
          <p:cNvPr id="37" name="Text 35"/>
          <p:cNvSpPr txBox="1"/>
          <p:nvPr/>
        </p:nvSpPr>
        <p:spPr>
          <a:xfrm>
            <a:off x="3657600" y="49194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Nair</a:t>
            </a:r>
            <a:endParaRPr lang="en-US" sz="830" dirty="0"/>
          </a:p>
        </p:txBody>
      </p:sp>
      <p:sp>
        <p:nvSpPr>
          <p:cNvPr id="38" name="Text 36"/>
          <p:cNvSpPr txBox="1"/>
          <p:nvPr/>
        </p:nvSpPr>
        <p:spPr>
          <a:xfrm>
            <a:off x="5212080" y="4919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SHP-PHARMA-1001</a:t>
            </a:r>
            <a:endParaRPr lang="en-US" sz="83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49194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tenant deployment and baseline synthetic configuration</a:t>
            </a:r>
            <a:endParaRPr lang="en-US" sz="83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532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operational intervention, automated risk re-computation, and carrier reroute sign-off is logged with user identity, RBAC verification, and a SHA-256 hash.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RBAC GUIDE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roles, one enforced permissions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3794760"/>
          </a:xfrm>
          <a:prstGeom prst="roundRect">
            <a:avLst>
              <a:gd name="adj" fmla="val 3509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Manager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671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B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Sign-off Authority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port diversions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278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reefer fleet assets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84962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financial thresholds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471416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SHA-256 audit logs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70632" y="1600200"/>
            <a:ext cx="2084832" cy="3794760"/>
          </a:xfrm>
          <a:prstGeom prst="roundRect">
            <a:avLst>
              <a:gd name="adj" fmla="val 3509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07792" y="17373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(CSO)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907792" y="21671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Governance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907792" y="26060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&amp; user management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907792" y="32278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role credentials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907792" y="384962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health monitoring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907792" y="4471416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raw audit trails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92624" y="1600200"/>
            <a:ext cx="2084832" cy="3794760"/>
          </a:xfrm>
          <a:prstGeom prst="roundRect">
            <a:avLst>
              <a:gd name="adj" fmla="val 3509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9784" y="17373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129784" y="21671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129784" y="26060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24h/72h cascade models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129784" y="32278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port congestion metrics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129784" y="384962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scenario trade-offs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129784" y="4471416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reroute execution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14616" y="1600200"/>
            <a:ext cx="2084832" cy="3794760"/>
          </a:xfrm>
          <a:prstGeom prst="roundRect">
            <a:avLst>
              <a:gd name="adj" fmla="val 3509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51776" y="17373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Auditor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351776" y="21671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Oversight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351776" y="26060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cryptographic ledger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351776" y="32278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SHA-256 signatures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7351776" y="384962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compliance reports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351776" y="4471416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operational actions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436608" y="1600200"/>
            <a:ext cx="2084832" cy="3794760"/>
          </a:xfrm>
          <a:prstGeom prst="roundRect">
            <a:avLst>
              <a:gd name="adj" fmla="val 3509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73768" y="17373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User / Guest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573768" y="21671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View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573768" y="26060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AIS map inspection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9573768" y="32278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cargo manifests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9573768" y="384962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port congestion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9573768" y="4471416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administrative access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Operating Procedure — 5-Phase Disruption Lifecycle: Detection &amp; Verification → Cascade Simulation → Scenario Evaluation → Executive Sign-Off → Fleet Dispatch &amp; Cold Preservation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· Live Product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E2E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017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— from raw disruption signal to a signed, executed, audited decision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4754880" cy="1691640"/>
          </a:xfrm>
          <a:prstGeom prst="roundRect">
            <a:avLst>
              <a:gd name="adj" fmla="val 5405"/>
            </a:avLst>
          </a:prstGeom>
          <a:solidFill>
            <a:srgbClr val="10293F"/>
          </a:solidFill>
          <a:ln w="12700">
            <a:solidFill>
              <a:srgbClr val="2351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096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🦁  Team LEO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Nakrani   ·   23DCS064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846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 Vaghasiya   ·   23DIT075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5212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L2 — Supply Chain Disruption Assistant &amp; Fleet Utilisation Optimizer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52160" y="3931920"/>
            <a:ext cx="5623560" cy="1691640"/>
          </a:xfrm>
          <a:prstGeom prst="roundRect">
            <a:avLst>
              <a:gd name="adj" fmla="val 5405"/>
            </a:avLst>
          </a:prstGeom>
          <a:solidFill>
            <a:srgbClr val="153450"/>
          </a:solidFill>
          <a:ln w="12700">
            <a:solidFill>
              <a:srgbClr val="1C93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saw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43891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Mission Control · 2 concurrent maritime threats verified &amp; resolved · cold-chain telemetry · fleet manifest · 72h cascade forecasting · AI Copilot · cryptographic audit trail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2026-09-15T03:39:55Z</dcterms:created>
  <dcterms:modified xsi:type="dcterms:W3CDTF">2026-09-15T03:39:55Z</dcterms:modified>
</cp:coreProperties>
</file>